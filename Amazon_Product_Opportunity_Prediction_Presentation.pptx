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Amazon Product Opportunity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23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D2E1FA"/>
                </a:solidFill>
              </a:defRPr>
            </a:pPr>
            <a:r>
              <a:rPr dirty="0"/>
              <a:t>Machine Learning Classification Model for Product Stocking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794760"/>
            <a:ext cx="32461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3794760"/>
            <a:ext cx="64008" cy="1280160"/>
          </a:xfrm>
          <a:prstGeom prst="rect">
            <a:avLst/>
          </a:prstGeom>
          <a:solidFill>
            <a:srgbClr val="23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" y="3959352"/>
            <a:ext cx="2880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Business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416552"/>
            <a:ext cx="297626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Help a new seller prioritize products with</a:t>
            </a:r>
            <a:endParaRPr lang="en-US" dirty="0"/>
          </a:p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limited budget and storage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794760"/>
            <a:ext cx="32461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3794760"/>
            <a:ext cx="64008" cy="1280160"/>
          </a:xfrm>
          <a:prstGeom prst="rect">
            <a:avLst/>
          </a:prstGeom>
          <a:solidFill>
            <a:srgbClr val="2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3959352"/>
            <a:ext cx="2880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Model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4416552"/>
            <a:ext cx="2880360" cy="548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t>BUY / CONSIDER / DON'T BUY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3794760"/>
            <a:ext cx="32461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3794760"/>
            <a:ext cx="64008" cy="1280160"/>
          </a:xfrm>
          <a:prstGeom prst="rect">
            <a:avLst/>
          </a:prstGeom>
          <a:solidFill>
            <a:srgbClr val="E6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3959352"/>
            <a:ext cx="2880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4416552"/>
            <a:ext cx="267983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SVM Linear model saved using Pickle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1.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206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23C"/>
                </a:solidFill>
              </a:defRPr>
            </a:pPr>
            <a:r>
              <a:rPr b="1" dirty="0"/>
              <a:t>Target user</a:t>
            </a:r>
            <a:r>
              <a:rPr dirty="0"/>
              <a:t>: </a:t>
            </a:r>
            <a:r>
              <a:rPr lang="en-US" dirty="0"/>
              <a:t>A</a:t>
            </a:r>
            <a:r>
              <a:rPr dirty="0"/>
              <a:t> new Amazon seller with a budget of approximately ₹30,000–₹50,000 and limited storage space.</a:t>
            </a:r>
          </a:p>
          <a:p>
            <a:pPr>
              <a:spcAft>
                <a:spcPts val="1000"/>
              </a:spcAft>
              <a:defRPr sz="1800">
                <a:solidFill>
                  <a:srgbClr val="2D323C"/>
                </a:solidFill>
              </a:defRPr>
            </a:pPr>
            <a:r>
              <a:rPr dirty="0"/>
              <a:t>The seller cannot stock every available product and needs a practical way to screen products.</a:t>
            </a:r>
          </a:p>
          <a:p>
            <a:pPr>
              <a:spcAft>
                <a:spcPts val="1000"/>
              </a:spcAft>
              <a:defRPr sz="1800">
                <a:solidFill>
                  <a:srgbClr val="2D323C"/>
                </a:solidFill>
              </a:defRPr>
            </a:pPr>
            <a:r>
              <a:rPr b="1" dirty="0"/>
              <a:t>Key questions</a:t>
            </a:r>
            <a:r>
              <a:rPr dirty="0"/>
              <a:t>: </a:t>
            </a:r>
            <a:endParaRPr lang="en-US"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D323C"/>
                </a:solidFill>
              </a:defRPr>
            </a:pPr>
            <a:r>
              <a:rPr dirty="0"/>
              <a:t>Which products should I stock? </a:t>
            </a:r>
            <a:endParaRPr lang="en-US"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D323C"/>
                </a:solidFill>
              </a:defRPr>
            </a:pPr>
            <a:r>
              <a:rPr dirty="0"/>
              <a:t>Which products show stronger customer demand? </a:t>
            </a:r>
            <a:endParaRPr lang="en-US"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D323C"/>
                </a:solidFill>
              </a:defRPr>
            </a:pPr>
            <a:r>
              <a:rPr dirty="0"/>
              <a:t>Which products should I deprioritize?</a:t>
            </a:r>
          </a:p>
          <a:p>
            <a:pPr>
              <a:spcAft>
                <a:spcPts val="1000"/>
              </a:spcAft>
              <a:defRPr sz="1800">
                <a:solidFill>
                  <a:srgbClr val="2D323C"/>
                </a:solidFill>
              </a:defRPr>
            </a:pPr>
            <a:r>
              <a:rPr lang="en-US" b="1" dirty="0"/>
              <a:t>Disclaimer:</a:t>
            </a:r>
          </a:p>
          <a:p>
            <a:pPr>
              <a:spcAft>
                <a:spcPts val="1000"/>
              </a:spcAft>
              <a:defRPr sz="1800">
                <a:solidFill>
                  <a:srgbClr val="2D323C"/>
                </a:solidFill>
              </a:defRPr>
            </a:pPr>
            <a:r>
              <a:rPr dirty="0"/>
              <a:t>The solution is a decision-support model; it does not guarantee sales or profit.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rPr dirty="0"/>
              <a:t>2. Machine 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D"/>
                </a:solidFill>
              </a:defRPr>
            </a:pPr>
            <a:r>
              <a:rPr dirty="0"/>
              <a:t>Supervised multiclass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64008" cy="1828800"/>
          </a:xfrm>
          <a:prstGeom prst="rect">
            <a:avLst/>
          </a:prstGeom>
          <a:solidFill>
            <a:srgbClr val="2A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3619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320600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Machine Learning using structured product</a:t>
            </a:r>
            <a:r>
              <a:rPr lang="en-US" dirty="0"/>
              <a:t>-</a:t>
            </a:r>
          </a:p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level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64008" cy="1828800"/>
          </a:xfrm>
          <a:prstGeom prst="rect">
            <a:avLst/>
          </a:prstGeom>
          <a:solidFill>
            <a:srgbClr val="23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53619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Learning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93392"/>
            <a:ext cx="333379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Supervised learning using product information</a:t>
            </a:r>
            <a:endParaRPr lang="en-US" dirty="0"/>
          </a:p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with predefined recommendation labels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71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371600"/>
            <a:ext cx="64008" cy="1828800"/>
          </a:xfrm>
          <a:prstGeom prst="rect">
            <a:avLst/>
          </a:prstGeom>
          <a:solidFill>
            <a:srgbClr val="2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53619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Problem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993392"/>
            <a:ext cx="330962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Classification into </a:t>
            </a:r>
            <a:r>
              <a:rPr b="1" dirty="0"/>
              <a:t>BUY</a:t>
            </a:r>
            <a:r>
              <a:rPr dirty="0"/>
              <a:t>, </a:t>
            </a:r>
            <a:r>
              <a:rPr b="1" dirty="0"/>
              <a:t>CONSIDER</a:t>
            </a:r>
            <a:r>
              <a:rPr dirty="0"/>
              <a:t> and </a:t>
            </a:r>
            <a:r>
              <a:rPr b="1" dirty="0"/>
              <a:t>DON'T</a:t>
            </a:r>
            <a:r>
              <a:rPr dirty="0"/>
              <a:t> </a:t>
            </a:r>
            <a:endParaRPr lang="en-US" dirty="0"/>
          </a:p>
          <a:p>
            <a:pPr>
              <a:defRPr sz="1300">
                <a:solidFill>
                  <a:srgbClr val="2D323C"/>
                </a:solidFill>
              </a:defRPr>
            </a:pPr>
            <a:r>
              <a:rPr b="1" dirty="0"/>
              <a:t>BUY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rPr dirty="0"/>
              <a:t>The model learns patterns between product characteristics and the recommendation label.</a:t>
            </a:r>
          </a:p>
          <a:p>
            <a:pPr>
              <a:spcAft>
                <a:spcPts val="1000"/>
              </a:spcAft>
              <a:defRPr sz="1700">
                <a:solidFill>
                  <a:srgbClr val="2D323C"/>
                </a:solidFill>
              </a:defRPr>
            </a:pPr>
            <a:r>
              <a:rPr dirty="0"/>
              <a:t>For a new product, the same characteristics are supplied to obtain a recommendation.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rPr dirty="0"/>
              <a:t>3. Data &amp; 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64008" cy="1508760"/>
          </a:xfrm>
          <a:prstGeom prst="rect">
            <a:avLst/>
          </a:prstGeom>
          <a:solidFill>
            <a:srgbClr val="2A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49047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discounted_price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47672"/>
            <a:ext cx="489204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t>Current selling price used by the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32588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59" y="1325880"/>
            <a:ext cx="64008" cy="1508760"/>
          </a:xfrm>
          <a:prstGeom prst="rect">
            <a:avLst/>
          </a:prstGeom>
          <a:solidFill>
            <a:srgbClr val="23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7" y="149047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discount_percentage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7" y="1947672"/>
            <a:ext cx="489204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t>Discount offered on the product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64008" cy="1508760"/>
          </a:xfrm>
          <a:prstGeom prst="rect">
            <a:avLst/>
          </a:prstGeom>
          <a:solidFill>
            <a:srgbClr val="E6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336499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rating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822191"/>
            <a:ext cx="489204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t>Customer rating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2004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59" y="3200400"/>
            <a:ext cx="64008" cy="1508760"/>
          </a:xfrm>
          <a:prstGeom prst="rect">
            <a:avLst/>
          </a:prstGeom>
          <a:solidFill>
            <a:srgbClr val="2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527" y="336499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rating_count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7" y="3822191"/>
            <a:ext cx="489204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t>Number of ratings; used as an indicator of product popularity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66360"/>
            <a:ext cx="10241280" cy="682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2D323C"/>
                </a:solidFill>
              </a:defRPr>
            </a:pPr>
            <a:r>
              <a:rPr dirty="0"/>
              <a:t>The original dataset also contains product/category and review-related information.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2D323C"/>
                </a:solidFill>
              </a:defRPr>
            </a:pPr>
            <a:r>
              <a:rPr dirty="0"/>
              <a:t>The deployed classifier uses four numerical inputs in the defined order.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4. Exploratory Analysis &amp; Statistical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57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64008" cy="1737360"/>
          </a:xfrm>
          <a:prstGeom prst="rect">
            <a:avLst/>
          </a:prstGeom>
          <a:solidFill>
            <a:srgbClr val="2A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444751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Target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492833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The opportunity labels are imbalanced: CONSIDER is the largest class, </a:t>
            </a:r>
            <a:endParaRPr lang="en-US" dirty="0"/>
          </a:p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followed by DON'T BUY and BUY.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57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64008" cy="1737360"/>
          </a:xfrm>
          <a:prstGeom prst="rect">
            <a:avLst/>
          </a:prstGeom>
          <a:solidFill>
            <a:srgbClr val="23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444751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Opportunity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901952"/>
            <a:ext cx="517596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The score is concentrated mainly around the middle range, with relatively</a:t>
            </a:r>
            <a:endParaRPr lang="en-US" dirty="0"/>
          </a:p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 few products at extreme values.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5257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383280"/>
            <a:ext cx="64008" cy="1737360"/>
          </a:xfrm>
          <a:prstGeom prst="rect">
            <a:avLst/>
          </a:prstGeom>
          <a:solidFill>
            <a:srgbClr val="E6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354787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Correlation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005072"/>
            <a:ext cx="485344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Selected numeric features show generally low-to-moderate pairwise </a:t>
            </a:r>
            <a:endParaRPr lang="en-US" dirty="0"/>
          </a:p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correlations; no strong multicollinearity pattern is evident.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83280"/>
            <a:ext cx="5257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383280"/>
            <a:ext cx="64008" cy="1737360"/>
          </a:xfrm>
          <a:prstGeom prst="rect">
            <a:avLst/>
          </a:prstGeom>
          <a:solidFill>
            <a:srgbClr val="2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354787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ANOVA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4005072"/>
            <a:ext cx="491692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ANOVA showed a statistically significant difference in mean customer </a:t>
            </a:r>
            <a:endParaRPr lang="en-US" dirty="0"/>
          </a:p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ratings across the top product categories (p &lt; 0.05).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5. Feature Selection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2011680"/>
          </a:xfrm>
          <a:prstGeom prst="rect">
            <a:avLst/>
          </a:prstGeom>
          <a:solidFill>
            <a:srgbClr val="2A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904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Correlation-based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47672"/>
            <a:ext cx="3398174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Used to understand relationships among </a:t>
            </a:r>
            <a:endParaRPr lang="en-US" dirty="0"/>
          </a:p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numerical input features and identify potential </a:t>
            </a:r>
            <a:endParaRPr lang="en-US" dirty="0"/>
          </a:p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redundancy.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64008" cy="2011680"/>
          </a:xfrm>
          <a:prstGeom prst="rect">
            <a:avLst/>
          </a:prstGeom>
          <a:solidFill>
            <a:srgbClr val="23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4904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SelectKBest — Chi-Square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947672"/>
            <a:ext cx="2816477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rPr dirty="0" err="1"/>
              <a:t>rating_count</a:t>
            </a:r>
            <a:r>
              <a:rPr dirty="0"/>
              <a:t>, </a:t>
            </a:r>
            <a:r>
              <a:rPr dirty="0" err="1"/>
              <a:t>discounted_price</a:t>
            </a:r>
            <a:r>
              <a:rPr dirty="0"/>
              <a:t> and </a:t>
            </a:r>
            <a:endParaRPr lang="en-US" dirty="0"/>
          </a:p>
          <a:p>
            <a:pPr>
              <a:defRPr sz="1300">
                <a:solidFill>
                  <a:srgbClr val="2D323C"/>
                </a:solidFill>
              </a:defRPr>
            </a:pPr>
            <a:r>
              <a:rPr dirty="0" err="1"/>
              <a:t>discount_percentage</a:t>
            </a:r>
            <a:r>
              <a:rPr dirty="0"/>
              <a:t> were statistically </a:t>
            </a:r>
            <a:endParaRPr lang="en-US" dirty="0"/>
          </a:p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significant; rating had a high p-value.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32588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01000" y="1325880"/>
            <a:ext cx="64008" cy="2011680"/>
          </a:xfrm>
          <a:prstGeom prst="rect">
            <a:avLst/>
          </a:prstGeom>
          <a:solidFill>
            <a:srgbClr val="E6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02168" y="14904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RFE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1947672"/>
            <a:ext cx="3300984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With Logistic Regression, RFE selected </a:t>
            </a:r>
            <a:r>
              <a:rPr dirty="0" err="1"/>
              <a:t>discount_percentage</a:t>
            </a:r>
            <a:r>
              <a:rPr dirty="0"/>
              <a:t> and rating as the two retained features in that analysis.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86200"/>
            <a:ext cx="10241280" cy="743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2D323C"/>
                </a:solidFill>
              </a:defRPr>
            </a:pPr>
            <a:r>
              <a:rPr dirty="0"/>
              <a:t>Feature selection was used to understand which variables carry useful information for classification.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2D323C"/>
                </a:solidFill>
              </a:defRPr>
            </a:pPr>
            <a:r>
              <a:rPr dirty="0"/>
              <a:t>The deployment workflow uses the four defined numerical inputs.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6. Model Creation &amp; GridSearchCV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64008" cy="1097280"/>
          </a:xfrm>
          <a:prstGeom prst="rect">
            <a:avLst/>
          </a:prstGeom>
          <a:solidFill>
            <a:srgbClr val="2A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444751"/>
            <a:ext cx="2148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214884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Candidate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280160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20439" y="1280160"/>
            <a:ext cx="64008" cy="1097280"/>
          </a:xfrm>
          <a:prstGeom prst="rect">
            <a:avLst/>
          </a:prstGeom>
          <a:solidFill>
            <a:srgbClr val="23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21607" y="1444751"/>
            <a:ext cx="2148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SVM Linear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1901952"/>
            <a:ext cx="214884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Candidate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280160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59" y="1280160"/>
            <a:ext cx="64008" cy="1097280"/>
          </a:xfrm>
          <a:prstGeom prst="rect">
            <a:avLst/>
          </a:prstGeom>
          <a:solidFill>
            <a:srgbClr val="E6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7" y="1444751"/>
            <a:ext cx="2148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SVM RBF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7" y="1901952"/>
            <a:ext cx="214884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t>Candidate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280160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98280" y="1280160"/>
            <a:ext cx="64008" cy="1097280"/>
          </a:xfrm>
          <a:prstGeom prst="rect">
            <a:avLst/>
          </a:prstGeom>
          <a:solidFill>
            <a:srgbClr val="2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99448" y="1444751"/>
            <a:ext cx="2148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KNN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1901952"/>
            <a:ext cx="214884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t>Candidate 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697480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2697480"/>
            <a:ext cx="64008" cy="1097280"/>
          </a:xfrm>
          <a:prstGeom prst="rect">
            <a:avLst/>
          </a:prstGeom>
          <a:solidFill>
            <a:srgbClr val="2A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2862072"/>
            <a:ext cx="2148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Naive Bayes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319272"/>
            <a:ext cx="214884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t>Candidate model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0439" y="2697480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520439" y="2697480"/>
            <a:ext cx="64008" cy="1097280"/>
          </a:xfrm>
          <a:prstGeom prst="rect">
            <a:avLst/>
          </a:prstGeom>
          <a:solidFill>
            <a:srgbClr val="23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21607" y="2862072"/>
            <a:ext cx="2148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Decision Tree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21607" y="3319272"/>
            <a:ext cx="214884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t>Candidate model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59" y="2697480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9359" y="2697480"/>
            <a:ext cx="64008" cy="1097280"/>
          </a:xfrm>
          <a:prstGeom prst="rect">
            <a:avLst/>
          </a:prstGeom>
          <a:solidFill>
            <a:srgbClr val="E6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10527" y="2862072"/>
            <a:ext cx="2148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Random Forest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7" y="3319272"/>
            <a:ext cx="214884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t>Candidate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251960"/>
            <a:ext cx="10241280" cy="1087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2D323C"/>
                </a:solidFill>
              </a:defRPr>
            </a:pPr>
            <a:r>
              <a:rPr b="1" dirty="0" err="1"/>
              <a:t>GridSearchCV</a:t>
            </a:r>
            <a:r>
              <a:rPr dirty="0"/>
              <a:t> tuned hyperparameters using </a:t>
            </a:r>
            <a:r>
              <a:rPr b="1" dirty="0"/>
              <a:t>5-fold cross-validation</a:t>
            </a:r>
            <a:r>
              <a:rPr dirty="0"/>
              <a:t>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2D323C"/>
                </a:solidFill>
              </a:defRPr>
            </a:pPr>
            <a:r>
              <a:rPr b="1" dirty="0"/>
              <a:t>F1-Macro</a:t>
            </a:r>
            <a:r>
              <a:rPr dirty="0"/>
              <a:t> was used as the main tuning metric because the target classes are </a:t>
            </a:r>
            <a:r>
              <a:rPr b="1" dirty="0"/>
              <a:t>imbalanced</a:t>
            </a:r>
            <a:r>
              <a:rPr dirty="0"/>
              <a:t>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2D323C"/>
                </a:solidFill>
              </a:defRPr>
            </a:pPr>
            <a:r>
              <a:rPr b="1" dirty="0"/>
              <a:t>Scaling</a:t>
            </a:r>
            <a:r>
              <a:rPr dirty="0"/>
              <a:t> was incorporated for scale-sensitive models such as </a:t>
            </a:r>
            <a:r>
              <a:rPr b="1" dirty="0"/>
              <a:t>Logistic Regression, SVM and KNN</a:t>
            </a:r>
            <a:r>
              <a:rPr dirty="0"/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7. Model Evaluation &amp; Final Selection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64008" cy="1554480"/>
          </a:xfrm>
          <a:prstGeom prst="rect">
            <a:avLst/>
          </a:prstGeom>
          <a:solidFill>
            <a:srgbClr val="2A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39903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856232"/>
            <a:ext cx="301752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t>Overall proportion of correct predictions.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64008" cy="1554480"/>
          </a:xfrm>
          <a:prstGeom prst="rect">
            <a:avLst/>
          </a:prstGeom>
          <a:solidFill>
            <a:srgbClr val="23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39903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856232"/>
            <a:ext cx="301752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t>Reliability of each predicted class.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3444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234440"/>
            <a:ext cx="64008" cy="1554480"/>
          </a:xfrm>
          <a:prstGeom prst="rect">
            <a:avLst/>
          </a:prstGeom>
          <a:solidFill>
            <a:srgbClr val="E6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39903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856232"/>
            <a:ext cx="301752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t>Ability to identify actual class members.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0896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108960"/>
            <a:ext cx="64008" cy="1554480"/>
          </a:xfrm>
          <a:prstGeom prst="rect">
            <a:avLst/>
          </a:prstGeom>
          <a:solidFill>
            <a:srgbClr val="2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27355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F1-Macro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730752"/>
            <a:ext cx="301752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t>Balances precision and recall across classes.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10896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0" y="3108960"/>
            <a:ext cx="64008" cy="155448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90288" y="327355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BUY Recall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730752"/>
            <a:ext cx="314188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Important because missing a potential BUY </a:t>
            </a:r>
            <a:endParaRPr lang="en-US" dirty="0"/>
          </a:p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opportunity matters to the seller.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10896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46720" y="3108960"/>
            <a:ext cx="64008" cy="1554480"/>
          </a:xfrm>
          <a:prstGeom prst="rect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47888" y="327355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Confusion Matrix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3730752"/>
            <a:ext cx="319683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Shows correct predictions and class-to-class </a:t>
            </a:r>
            <a:endParaRPr lang="en-US" dirty="0"/>
          </a:p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confusion.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578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2D323C"/>
                </a:solidFill>
              </a:defRPr>
            </a:pPr>
            <a:r>
              <a:rPr b="1" dirty="0"/>
              <a:t>Final deployed model: SVM Linear</a:t>
            </a:r>
            <a:r>
              <a:rPr dirty="0"/>
              <a:t>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2D323C"/>
                </a:solidFill>
              </a:defRPr>
            </a:pPr>
            <a:r>
              <a:rPr dirty="0"/>
              <a:t>The final decision considers class imbalance and business relevance, not accuracy alone.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8. Final Model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D"/>
                </a:solidFill>
              </a:defRPr>
            </a:pPr>
            <a:r>
              <a:t>Pickle-based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560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64008" cy="1600200"/>
          </a:xfrm>
          <a:prstGeom prst="rect">
            <a:avLst/>
          </a:prstGeom>
          <a:solidFill>
            <a:srgbClr val="2A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90472"/>
            <a:ext cx="189795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rPr dirty="0"/>
              <a:t>1. Seller identifies a </a:t>
            </a:r>
            <a:endParaRPr lang="en-US" dirty="0"/>
          </a:p>
          <a:p>
            <a:pPr>
              <a:defRPr sz="1600" b="1">
                <a:solidFill>
                  <a:srgbClr val="18274B"/>
                </a:solidFill>
              </a:defRPr>
            </a:pPr>
            <a:r>
              <a:rPr dirty="0"/>
              <a:t>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47672"/>
            <a:ext cx="21945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474720" y="1325880"/>
            <a:ext cx="2560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0" y="1325880"/>
            <a:ext cx="64008" cy="1600200"/>
          </a:xfrm>
          <a:prstGeom prst="rect">
            <a:avLst/>
          </a:prstGeom>
          <a:solidFill>
            <a:srgbClr val="23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75887" y="149047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2. Enters 4 product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1947672"/>
            <a:ext cx="21945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55080" y="1325880"/>
            <a:ext cx="2560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1325880"/>
            <a:ext cx="64008" cy="1600200"/>
          </a:xfrm>
          <a:prstGeom prst="rect">
            <a:avLst/>
          </a:prstGeom>
          <a:solidFill>
            <a:srgbClr val="E6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6248" y="1490472"/>
            <a:ext cx="208852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rPr dirty="0"/>
              <a:t>3. Loaded SVM model </a:t>
            </a:r>
            <a:endParaRPr lang="en-US" dirty="0"/>
          </a:p>
          <a:p>
            <a:pPr>
              <a:defRPr sz="1600" b="1">
                <a:solidFill>
                  <a:srgbClr val="18274B"/>
                </a:solidFill>
              </a:defRPr>
            </a:pPr>
            <a:r>
              <a:rPr dirty="0"/>
              <a:t>predicts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1947672"/>
            <a:ext cx="21945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235440" y="1325880"/>
            <a:ext cx="2560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35440" y="1325880"/>
            <a:ext cx="64008" cy="1600200"/>
          </a:xfrm>
          <a:prstGeom prst="rect">
            <a:avLst/>
          </a:prstGeom>
          <a:solidFill>
            <a:srgbClr val="2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36608" y="1490472"/>
            <a:ext cx="198817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rPr dirty="0"/>
              <a:t>4. BUY / CONSIDER / </a:t>
            </a:r>
            <a:endParaRPr lang="en-US" dirty="0"/>
          </a:p>
          <a:p>
            <a:pPr>
              <a:defRPr sz="1600" b="1">
                <a:solidFill>
                  <a:srgbClr val="18274B"/>
                </a:solidFill>
              </a:defRPr>
            </a:pPr>
            <a:r>
              <a:rPr dirty="0"/>
              <a:t>DON'T BUY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8" y="1947672"/>
            <a:ext cx="21945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566160"/>
            <a:ext cx="10241280" cy="113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2D323C"/>
                </a:solidFill>
              </a:defRPr>
            </a:pPr>
            <a:r>
              <a:rPr b="1" dirty="0"/>
              <a:t>Deployment file</a:t>
            </a:r>
            <a:r>
              <a:rPr dirty="0"/>
              <a:t>: </a:t>
            </a:r>
            <a:r>
              <a:rPr dirty="0" err="1"/>
              <a:t>finalized_model_SVM_linear.sav</a:t>
            </a:r>
            <a:endParaRPr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2D323C"/>
                </a:solidFill>
              </a:defRPr>
            </a:pPr>
            <a:r>
              <a:rPr b="1" dirty="0"/>
              <a:t>Input order</a:t>
            </a:r>
            <a:r>
              <a:rPr dirty="0"/>
              <a:t>: </a:t>
            </a:r>
            <a:r>
              <a:rPr dirty="0" err="1"/>
              <a:t>discounted_price</a:t>
            </a:r>
            <a:r>
              <a:rPr dirty="0"/>
              <a:t> → </a:t>
            </a:r>
            <a:r>
              <a:rPr dirty="0" err="1"/>
              <a:t>discount_percentage</a:t>
            </a:r>
            <a:r>
              <a:rPr dirty="0"/>
              <a:t> → rating → </a:t>
            </a:r>
            <a:r>
              <a:rPr dirty="0" err="1"/>
              <a:t>rating_count</a:t>
            </a:r>
            <a:r>
              <a:rPr dirty="0"/>
              <a:t>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2D323C"/>
                </a:solidFill>
              </a:defRPr>
            </a:pPr>
            <a:r>
              <a:rPr dirty="0"/>
              <a:t>The output is a recommendation label only; the model does not identify the product name.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9. Deployment Examples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64008" cy="2286000"/>
          </a:xfrm>
          <a:prstGeom prst="rect">
            <a:avLst/>
          </a:prstGeom>
          <a:solidFill>
            <a:srgbClr val="2A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49047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Input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47672"/>
            <a:ext cx="30632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t>₹499 | 40% | 4.3 | 5,000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3429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E69132"/>
                </a:solidFill>
              </a:defRPr>
            </a:pPr>
            <a:r>
              <a:t>CONSIDER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325880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59" y="1325880"/>
            <a:ext cx="64008" cy="2286000"/>
          </a:xfrm>
          <a:prstGeom prst="rect">
            <a:avLst/>
          </a:prstGeom>
          <a:solidFill>
            <a:srgbClr val="2A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7" y="149047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Input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7" y="1947672"/>
            <a:ext cx="30632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t>₹100 | 50% | 4.9 | 15,000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886200"/>
            <a:ext cx="3429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7965A"/>
                </a:solidFill>
              </a:defRPr>
            </a:pPr>
            <a:r>
              <a:t>BUY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25880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325880"/>
            <a:ext cx="64008" cy="2286000"/>
          </a:xfrm>
          <a:prstGeom prst="rect">
            <a:avLst/>
          </a:prstGeom>
          <a:solidFill>
            <a:srgbClr val="2A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0768" y="149047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Input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1947672"/>
            <a:ext cx="30632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t>₹1,000 | 10% | 4.0 | 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886200"/>
            <a:ext cx="3429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BE4141"/>
                </a:solidFill>
              </a:defRPr>
            </a:pPr>
            <a:r>
              <a:t>DON'T BUY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09160"/>
            <a:ext cx="10241280" cy="682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2D323C"/>
                </a:solidFill>
              </a:defRPr>
            </a:pPr>
            <a:r>
              <a:rPr dirty="0"/>
              <a:t>The model provides an initial screening recommendation for the product profile entered.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solidFill>
                  <a:srgbClr val="2D323C"/>
                </a:solidFill>
              </a:defRPr>
            </a:pPr>
            <a:r>
              <a:rPr dirty="0"/>
              <a:t>The seller can prioritize BUY products, investigate CONSIDER products further, and deprioritize DON'T BUY products.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10. Business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1874519"/>
          </a:xfrm>
          <a:prstGeom prst="rect">
            <a:avLst/>
          </a:prstGeom>
          <a:solidFill>
            <a:srgbClr val="2A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904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Better prioritization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47672"/>
            <a:ext cx="321652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Helps the seller shortlist products instead of </a:t>
            </a:r>
            <a:endParaRPr lang="en-US" dirty="0"/>
          </a:p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evaluating all products equally.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64008" cy="1874519"/>
          </a:xfrm>
          <a:prstGeom prst="rect">
            <a:avLst/>
          </a:prstGeom>
          <a:solidFill>
            <a:srgbClr val="23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4904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Budget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947672"/>
            <a:ext cx="268355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Supports better allocation of limited </a:t>
            </a:r>
            <a:endParaRPr lang="en-US" dirty="0"/>
          </a:p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₹30,000–₹50,000 investment.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32588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01000" y="1325880"/>
            <a:ext cx="64008" cy="1874519"/>
          </a:xfrm>
          <a:prstGeom prst="rect">
            <a:avLst/>
          </a:prstGeom>
          <a:solidFill>
            <a:srgbClr val="27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02168" y="14904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B"/>
                </a:solidFill>
              </a:defRPr>
            </a:pPr>
            <a:r>
              <a:t>Storage awareness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1947672"/>
            <a:ext cx="286508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Helps focus limited storage capacity on </a:t>
            </a:r>
            <a:endParaRPr lang="en-US" dirty="0"/>
          </a:p>
          <a:p>
            <a:pPr>
              <a:defRPr sz="1300">
                <a:solidFill>
                  <a:srgbClr val="2D323C"/>
                </a:solidFill>
              </a:defRPr>
            </a:pPr>
            <a:r>
              <a:rPr dirty="0"/>
              <a:t>higher-priority products.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03320"/>
            <a:ext cx="10241280" cy="139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2D323C"/>
                </a:solidFill>
              </a:defRPr>
            </a:pPr>
            <a:r>
              <a:t>The model is a decision-support tool, not an automatic purchasing system.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2D323C"/>
                </a:solidFill>
              </a:defRPr>
            </a:pPr>
            <a:r>
              <a:t>Final stocking decisions should also consider supplier cost, competition, shipping, availability and actual profit margin.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2D323C"/>
                </a:solidFill>
              </a:defRPr>
            </a:pPr>
            <a:r>
              <a:t>The main value is reducing initial screening effort and making the first decision more data-driven.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Project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913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>
                <a:solidFill>
                  <a:srgbClr val="2D323C"/>
                </a:solidFill>
              </a:defRPr>
            </a:pPr>
            <a:r>
              <a:rPr dirty="0">
                <a:solidFill>
                  <a:schemeClr val="bg1"/>
                </a:solidFill>
              </a:rPr>
              <a:t>Built a supervised multiclass classification solution for product stocking recommendations.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>
                <a:solidFill>
                  <a:srgbClr val="2D323C"/>
                </a:solidFill>
              </a:defRPr>
            </a:pPr>
            <a:r>
              <a:rPr dirty="0">
                <a:solidFill>
                  <a:schemeClr val="bg1"/>
                </a:solidFill>
              </a:rPr>
              <a:t>Used product price, discount, rating and rating count as deployment inputs.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>
                <a:solidFill>
                  <a:srgbClr val="2D323C"/>
                </a:solidFill>
              </a:defRPr>
            </a:pPr>
            <a:r>
              <a:rPr dirty="0">
                <a:solidFill>
                  <a:schemeClr val="bg1"/>
                </a:solidFill>
              </a:rPr>
              <a:t>Compared multiple classification algorithms and tuned candidates using </a:t>
            </a:r>
            <a:r>
              <a:rPr dirty="0" err="1">
                <a:solidFill>
                  <a:schemeClr val="bg1"/>
                </a:solidFill>
              </a:rPr>
              <a:t>GridSearchCV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>
                <a:solidFill>
                  <a:srgbClr val="2D323C"/>
                </a:solidFill>
              </a:defRPr>
            </a:pPr>
            <a:r>
              <a:rPr dirty="0">
                <a:solidFill>
                  <a:schemeClr val="bg1"/>
                </a:solidFill>
              </a:rPr>
              <a:t>Deployed the selected SVM Linear model using Pickle.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>
                <a:solidFill>
                  <a:srgbClr val="2D323C"/>
                </a:solidFill>
              </a:defRPr>
            </a:pPr>
            <a:r>
              <a:rPr dirty="0">
                <a:solidFill>
                  <a:schemeClr val="bg1"/>
                </a:solidFill>
              </a:rPr>
              <a:t>Final output: BUY / CONSIDER / DON'T BUY.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>
                <a:solidFill>
                  <a:srgbClr val="2D323C"/>
                </a:solidFill>
              </a:defRPr>
            </a:pPr>
            <a:r>
              <a:rPr dirty="0">
                <a:solidFill>
                  <a:schemeClr val="bg1"/>
                </a:solidFill>
              </a:rPr>
              <a:t>The solution helps a new seller make a structured </a:t>
            </a:r>
            <a:r>
              <a:rPr b="1" dirty="0">
                <a:solidFill>
                  <a:schemeClr val="bg1"/>
                </a:solidFill>
              </a:rPr>
              <a:t>first-level product screening decision</a:t>
            </a:r>
            <a:r>
              <a:rPr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>
                <a:solidFill>
                  <a:srgbClr val="2D323C"/>
                </a:solidFill>
              </a:defRPr>
            </a:pPr>
            <a:endParaRPr lang="en-IN" dirty="0">
              <a:solidFill>
                <a:schemeClr val="bg1"/>
              </a:solidFill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>
                <a:solidFill>
                  <a:srgbClr val="2D323C"/>
                </a:solidFill>
              </a:defRPr>
            </a:pPr>
            <a:r>
              <a:rPr lang="en-IN" sz="1900" b="1" u="sng" dirty="0">
                <a:solidFill>
                  <a:schemeClr val="bg1"/>
                </a:solidFill>
              </a:rPr>
              <a:t>NOTE</a:t>
            </a:r>
            <a:r>
              <a:rPr lang="en-IN" sz="1900" dirty="0">
                <a:solidFill>
                  <a:schemeClr val="bg1"/>
                </a:solidFill>
              </a:rPr>
              <a:t>: The model does not guarantee that a product will be profitable or that it will definitely sell. It provides a data-driven recommendation based on the four product characteristics available in the dataset.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935</Words>
  <Application>Microsoft Office PowerPoint</Application>
  <PresentationFormat>Widescreen</PresentationFormat>
  <Paragraphs>159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Anusuya</dc:creator>
  <cp:keywords/>
  <dc:description>generated using python-pptx</dc:description>
  <cp:lastModifiedBy>Anusuya Ponnusamy</cp:lastModifiedBy>
  <cp:revision>2</cp:revision>
  <dcterms:created xsi:type="dcterms:W3CDTF">2013-01-27T09:14:16Z</dcterms:created>
  <dcterms:modified xsi:type="dcterms:W3CDTF">2026-08-16T14:18:47Z</dcterms:modified>
  <cp:category/>
</cp:coreProperties>
</file>